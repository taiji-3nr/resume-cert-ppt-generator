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ertification-history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12648" y="530352"/>
            <a:ext cx="6492240" cy="11155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l">
              <a:defRPr sz="3400" b="1">
                <a:solidFill>
                  <a:srgbClr val="102235"/>
                </a:solidFill>
                <a:latin typeface="Yu Gothic"/>
              </a:defRPr>
            </a:pPr>
            <a:r>
              <a:t>資格取得ヒストリー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B5D70"/>
                </a:solidFill>
                <a:latin typeface="Yu Gothic"/>
              </a:defRPr>
            </a:pPr>
            <a:r>
              <a:t>太地 稔 | 1978-2022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514600"/>
            <a:ext cx="5303520" cy="960120"/>
          </a:xfrm>
          <a:prstGeom prst="roundRect">
            <a:avLst/>
          </a:prstGeom>
          <a:solidFill>
            <a:srgbClr val="102235"/>
          </a:solidFill>
          <a:ln>
            <a:solidFill>
              <a:srgbClr val="39A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l">
              <a:defRPr sz="1600" b="0">
                <a:solidFill>
                  <a:srgbClr val="FFFFFF"/>
                </a:solidFill>
                <a:latin typeface="Yu Gothic"/>
              </a:defRPr>
            </a:pPr>
            <a:r>
              <a:t>情報処理から教育・Office・認定インストラクターへ、実務と指導をつなぐ資格の軌跡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02235"/>
                </a:solidFill>
                <a:latin typeface="Yu Gothic"/>
              </a:defRPr>
            </a:pPr>
            <a:r>
              <a:t>基礎技術を固めた時期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487168"/>
            <a:ext cx="10378440" cy="54864"/>
          </a:xfrm>
          <a:prstGeom prst="roundRect">
            <a:avLst/>
          </a:prstGeom>
          <a:solidFill>
            <a:srgbClr val="39A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>
              <a:defRPr sz="1600" b="0">
                <a:solidFill>
                  <a:srgbClr val="243746"/>
                </a:solidFill>
                <a:latin typeface="Yu Gothic"/>
              </a:defRPr>
            </a:pP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645920" cy="438912"/>
          </a:xfrm>
          <a:prstGeom prst="round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1978.02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92807"/>
            <a:ext cx="2560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>
              <a:defRPr sz="1300" b="0">
                <a:solidFill>
                  <a:srgbClr val="243746"/>
                </a:solidFill>
                <a:latin typeface="Yu Gothic"/>
              </a:defRPr>
            </a:pPr>
            <a:r>
              <a:t>第二種情報処理技術者</a:t>
            </a:r>
          </a:p>
          <a:p>
            <a:pPr algn="ctr">
              <a:defRPr sz="1300" b="0">
                <a:solidFill>
                  <a:srgbClr val="243746"/>
                </a:solidFill>
                <a:latin typeface="Yu Gothic"/>
              </a:defRPr>
            </a:pPr>
            <a:r>
              <a:t>(現: 基本情報処理技術者)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3154680"/>
            <a:ext cx="1645920" cy="438912"/>
          </a:xfrm>
          <a:prstGeom prst="round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1995.12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3721608"/>
            <a:ext cx="2560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>
              <a:defRPr sz="1300" b="0">
                <a:solidFill>
                  <a:srgbClr val="243746"/>
                </a:solidFill>
                <a:latin typeface="Yu Gothic"/>
              </a:defRPr>
            </a:pPr>
            <a:r>
              <a:t>初級システムアドミニストレータ</a:t>
            </a:r>
          </a:p>
          <a:p>
            <a:pPr algn="ctr">
              <a:defRPr sz="1300" b="0">
                <a:solidFill>
                  <a:srgbClr val="243746"/>
                </a:solidFill>
                <a:latin typeface="Yu Gothic"/>
              </a:defRPr>
            </a:pPr>
            <a:r>
              <a:t>(現: ITパスポート)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325880"/>
            <a:ext cx="1645920" cy="438912"/>
          </a:xfrm>
          <a:prstGeom prst="round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1997.07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892807"/>
            <a:ext cx="2560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>
              <a:defRPr sz="1300" b="0">
                <a:solidFill>
                  <a:srgbClr val="243746"/>
                </a:solidFill>
                <a:latin typeface="Yu Gothic"/>
              </a:defRPr>
            </a:pPr>
            <a:r>
              <a:t>データベーススペシャリスト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779008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86575"/>
                </a:solidFill>
                <a:latin typeface="Yu Gothic"/>
              </a:defRPr>
            </a:pPr>
            <a:r>
              <a:t>ITキャリア初期から中堅期にかけて、業務システム開発の土台となる国家資格・専門資格を取得。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02235"/>
                </a:solidFill>
                <a:latin typeface="Yu Gothic"/>
              </a:defRPr>
            </a:pPr>
            <a:r>
              <a:t>教育・指導領域への展開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25296"/>
            <a:ext cx="2331720" cy="502920"/>
          </a:xfrm>
          <a:prstGeom prst="roundRect">
            <a:avLst/>
          </a:prstGeom>
          <a:solidFill>
            <a:srgbClr val="F4F8FA"/>
          </a:solidFill>
          <a:ln>
            <a:solidFill>
              <a:srgbClr val="D5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>
              <a:defRPr sz="1700" b="1">
                <a:solidFill>
                  <a:srgbClr val="243746"/>
                </a:solidFill>
                <a:latin typeface="Yu Gothic"/>
              </a:defRPr>
            </a:pPr>
            <a:r>
              <a:t>Office実務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2057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43746"/>
                </a:solidFill>
                <a:latin typeface="Yu Gothic"/>
              </a:defRPr>
            </a:pPr>
            <a:r>
              <a:t>2016 MOS 2013 Master (Excelコース)</a:t>
            </a:r>
          </a:p>
          <a:p>
            <a:pPr algn="l">
              <a:defRPr sz="1200" b="0">
                <a:solidFill>
                  <a:srgbClr val="243746"/>
                </a:solidFill>
                <a:latin typeface="Yu Gothic"/>
              </a:defRPr>
            </a:pPr>
            <a:r>
              <a:t>2016 MOS (Excel / Word / PowerPoint / Access)</a:t>
            </a:r>
          </a:p>
          <a:p>
            <a:pPr algn="l">
              <a:defRPr sz="1200" b="0">
                <a:solidFill>
                  <a:srgbClr val="243746"/>
                </a:solidFill>
                <a:latin typeface="Yu Gothic"/>
              </a:defRPr>
            </a:pPr>
            <a:r>
              <a:t>2019 サーティファイ Excel 1級</a:t>
            </a:r>
          </a:p>
          <a:p>
            <a:pPr algn="l">
              <a:defRPr sz="1200" b="0">
                <a:solidFill>
                  <a:srgbClr val="243746"/>
                </a:solidFill>
                <a:latin typeface="Yu Gothic"/>
              </a:defRPr>
            </a:pPr>
            <a:r>
              <a:t>2020 サーティファイ Access 1級</a:t>
            </a:r>
          </a:p>
          <a:p>
            <a:pPr algn="l">
              <a:defRPr sz="1200" b="0">
                <a:solidFill>
                  <a:srgbClr val="243746"/>
                </a:solidFill>
                <a:latin typeface="Yu Gothic"/>
              </a:defRPr>
            </a:pPr>
            <a:r>
              <a:t>2022 サーティファイ PowerPoint上級</a:t>
            </a:r>
          </a:p>
          <a:p>
            <a:pPr algn="l">
              <a:defRPr sz="1200" b="0">
                <a:solidFill>
                  <a:srgbClr val="243746"/>
                </a:solidFill>
                <a:latin typeface="Yu Gothic"/>
              </a:defRPr>
            </a:pPr>
            <a:r>
              <a:t>2022 サーティファイ Excelビジネススキル エキスパート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1225296"/>
            <a:ext cx="2331720" cy="502920"/>
          </a:xfrm>
          <a:prstGeom prst="roundRect">
            <a:avLst/>
          </a:prstGeom>
          <a:solidFill>
            <a:srgbClr val="F8F5EC"/>
          </a:solidFill>
          <a:ln>
            <a:solidFill>
              <a:srgbClr val="D5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>
              <a:defRPr sz="1700" b="1">
                <a:solidFill>
                  <a:srgbClr val="243746"/>
                </a:solidFill>
                <a:latin typeface="Yu Gothic"/>
              </a:defRPr>
            </a:pPr>
            <a:r>
              <a:t>IT基礎・業務理解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3320" y="1920240"/>
            <a:ext cx="2057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43746"/>
                </a:solidFill>
                <a:latin typeface="Yu Gothic"/>
              </a:defRPr>
            </a:pPr>
            <a:r>
              <a:t>2020 ICTプロフィエンシー検定試験3級 (P検3級)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225296"/>
            <a:ext cx="2331720" cy="502920"/>
          </a:xfrm>
          <a:prstGeom prst="roundRect">
            <a:avLst/>
          </a:prstGeom>
          <a:solidFill>
            <a:srgbClr val="F1F7F4"/>
          </a:solidFill>
          <a:ln>
            <a:solidFill>
              <a:srgbClr val="D5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>
              <a:defRPr sz="1700" b="1">
                <a:solidFill>
                  <a:srgbClr val="243746"/>
                </a:solidFill>
                <a:latin typeface="Yu Gothic"/>
              </a:defRPr>
            </a:pPr>
            <a:r>
              <a:t>プログラミング教育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920240"/>
            <a:ext cx="2057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43746"/>
                </a:solidFill>
                <a:latin typeface="Yu Gothic"/>
              </a:defRPr>
            </a:pPr>
            <a:r>
              <a:t>2018 サーティファイ Jプログラミング検定 Scratch部門 Gold</a:t>
            </a:r>
          </a:p>
          <a:p>
            <a:pPr algn="l">
              <a:defRPr sz="1200" b="0">
                <a:solidFill>
                  <a:srgbClr val="243746"/>
                </a:solidFill>
                <a:latin typeface="Yu Gothic"/>
              </a:defRPr>
            </a:pPr>
            <a:r>
              <a:t>2019 サーティファイ Jプログラミング検定 Scratch部門 Silver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1225296"/>
            <a:ext cx="2331720" cy="502920"/>
          </a:xfrm>
          <a:prstGeom prst="roundRect">
            <a:avLst/>
          </a:prstGeom>
          <a:solidFill>
            <a:srgbClr val="F5F2F8"/>
          </a:solidFill>
          <a:ln>
            <a:solidFill>
              <a:srgbClr val="D5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>
              <a:defRPr sz="1700" b="1">
                <a:solidFill>
                  <a:srgbClr val="243746"/>
                </a:solidFill>
                <a:latin typeface="Yu Gothic"/>
              </a:defRPr>
            </a:pPr>
            <a:r>
              <a:t>指導・教育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5480" y="1920240"/>
            <a:ext cx="2057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43746"/>
                </a:solidFill>
                <a:latin typeface="Yu Gothic"/>
              </a:defRPr>
            </a:pPr>
            <a:r>
              <a:t>2017 ICT支援員能力認定</a:t>
            </a:r>
          </a:p>
          <a:p>
            <a:pPr algn="l">
              <a:defRPr sz="1200" b="0">
                <a:solidFill>
                  <a:srgbClr val="243746"/>
                </a:solidFill>
                <a:latin typeface="Yu Gothic"/>
              </a:defRPr>
            </a:pPr>
            <a:r>
              <a:t>2022 サーティファイ 認定インストラクター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5504688"/>
            <a:ext cx="9829800" cy="640080"/>
          </a:xfrm>
          <a:prstGeom prst="round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>
              <a:defRPr sz="1400" b="0">
                <a:solidFill>
                  <a:srgbClr val="FFFFFF"/>
                </a:solidFill>
                <a:latin typeface="Yu Gothic"/>
              </a:defRPr>
            </a:pPr>
            <a:r>
              <a:t>セカンドキャリアでは、使える力を教える力へ転換。資格の幅がそのまま指導対象の広がりを示している。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02235"/>
                </a:solidFill>
                <a:latin typeface="Yu Gothic"/>
              </a:defRPr>
            </a:pPr>
            <a:r>
              <a:t>スキル領域マップ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663440" y="2487168"/>
            <a:ext cx="2834640" cy="777240"/>
          </a:xfrm>
          <a:prstGeom prst="roundRect">
            <a:avLst/>
          </a:prstGeom>
          <a:solidFill>
            <a:srgbClr val="102235"/>
          </a:solidFill>
          <a:ln>
            <a:solidFill>
              <a:srgbClr val="39A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>
              <a:defRPr sz="2300" b="1">
                <a:solidFill>
                  <a:srgbClr val="FFFFFF"/>
                </a:solidFill>
                <a:latin typeface="Yu Gothic"/>
              </a:defRPr>
            </a:pPr>
            <a:r>
              <a:t>実務 × 教育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34440"/>
            <a:ext cx="30175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39A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>
              <a:defRPr sz="1400" b="0">
                <a:solidFill>
                  <a:srgbClr val="243746"/>
                </a:solidFill>
                <a:latin typeface="Yu Gothic"/>
              </a:defRPr>
            </a:pPr>
            <a:r>
              <a:t>IT基礎・業務理解</a:t>
            </a:r>
          </a:p>
          <a:p>
            <a:pPr algn="ctr">
              <a:defRPr sz="1400" b="0">
                <a:solidFill>
                  <a:srgbClr val="243746"/>
                </a:solidFill>
                <a:latin typeface="Yu Gothic"/>
              </a:defRPr>
            </a:pPr>
            <a:r>
              <a:t>第二種情報処理 / シスアド / P検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1000" y="1234440"/>
            <a:ext cx="30175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39A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>
              <a:defRPr sz="1400" b="0">
                <a:solidFill>
                  <a:srgbClr val="243746"/>
                </a:solidFill>
                <a:latin typeface="Yu Gothic"/>
              </a:defRPr>
            </a:pPr>
            <a:r>
              <a:t>専門技術</a:t>
            </a:r>
          </a:p>
          <a:p>
            <a:pPr algn="ctr">
              <a:defRPr sz="1400" b="0">
                <a:solidFill>
                  <a:srgbClr val="243746"/>
                </a:solidFill>
                <a:latin typeface="Yu Gothic"/>
              </a:defRPr>
            </a:pPr>
            <a:r>
              <a:t>データベーススペシャリスト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26280"/>
            <a:ext cx="30175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49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>
              <a:defRPr sz="1400" b="0">
                <a:solidFill>
                  <a:srgbClr val="243746"/>
                </a:solidFill>
                <a:latin typeface="Yu Gothic"/>
              </a:defRPr>
            </a:pPr>
            <a:r>
              <a:t>Office実務</a:t>
            </a:r>
          </a:p>
          <a:p>
            <a:pPr algn="ctr">
              <a:defRPr sz="1400" b="0">
                <a:solidFill>
                  <a:srgbClr val="243746"/>
                </a:solidFill>
                <a:latin typeface="Yu Gothic"/>
              </a:defRPr>
            </a:pPr>
            <a:r>
              <a:t>MOS / Excel / Access / PowerPoint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4526280"/>
            <a:ext cx="30175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49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>
              <a:defRPr sz="1400" b="0">
                <a:solidFill>
                  <a:srgbClr val="243746"/>
                </a:solidFill>
                <a:latin typeface="Yu Gothic"/>
              </a:defRPr>
            </a:pPr>
            <a:r>
              <a:t>指導・教育</a:t>
            </a:r>
          </a:p>
          <a:p>
            <a:pPr algn="ctr">
              <a:defRPr sz="1400" b="0">
                <a:solidFill>
                  <a:srgbClr val="243746"/>
                </a:solidFill>
                <a:latin typeface="Yu Gothic"/>
              </a:defRPr>
            </a:pPr>
            <a:r>
              <a:t>ICT支援員 / Scratch / 認定インストラクター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38404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86575"/>
                </a:solidFill>
                <a:latin typeface="Yu Gothic"/>
              </a:defRPr>
            </a:pPr>
            <a:r>
              <a:t>資格群は、40年のIT実務経験とセカンドキャリアの教育実践を接続する証跡。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ertification-history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594360"/>
            <a:ext cx="5715000" cy="5166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l">
              <a:defRPr sz="3000" b="1">
                <a:solidFill>
                  <a:srgbClr val="102235"/>
                </a:solidFill>
                <a:latin typeface="Yu Gothic"/>
              </a:defRPr>
            </a:pPr>
            <a:r>
              <a:t>資格取得のストーリー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5074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43746"/>
                </a:solidFill>
                <a:latin typeface="Yu Gothic"/>
              </a:defRPr>
            </a:pPr>
            <a:r>
              <a:t>1. IT基礎を国家資格で体系化</a:t>
            </a:r>
          </a:p>
          <a:p>
            <a:pPr algn="l">
              <a:defRPr sz="1600" b="0">
                <a:solidFill>
                  <a:srgbClr val="243746"/>
                </a:solidFill>
                <a:latin typeface="Yu Gothic"/>
              </a:defRPr>
            </a:pPr>
            <a:r>
              <a:t>2. DBなど専門技術で開発マネジメントを補強</a:t>
            </a:r>
          </a:p>
          <a:p>
            <a:pPr algn="l">
              <a:defRPr sz="1600" b="0">
                <a:solidFill>
                  <a:srgbClr val="243746"/>
                </a:solidFill>
                <a:latin typeface="Yu Gothic"/>
              </a:defRPr>
            </a:pPr>
            <a:r>
              <a:t>3. MOS・サーティファイでOffice実務力を可視化</a:t>
            </a:r>
          </a:p>
          <a:p>
            <a:pPr algn="l">
              <a:defRPr sz="1600" b="0">
                <a:solidFill>
                  <a:srgbClr val="243746"/>
                </a:solidFill>
                <a:latin typeface="Yu Gothic"/>
              </a:defRPr>
            </a:pPr>
            <a:r>
              <a:t>4. ICT支援・Scratch・認定講師で教育領域へ展開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892040"/>
            <a:ext cx="4983480" cy="594360"/>
          </a:xfrm>
          <a:prstGeom prst="roundRect">
            <a:avLst/>
          </a:prstGeom>
          <a:solidFill>
            <a:srgbClr val="102235"/>
          </a:solidFill>
          <a:ln>
            <a:solidFill>
              <a:srgbClr val="39A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>
              <a:defRPr sz="2000" b="1">
                <a:solidFill>
                  <a:srgbClr val="FFFFFF"/>
                </a:solidFill>
                <a:latin typeface="Yu Gothic"/>
              </a:defRPr>
            </a:pPr>
            <a:r>
              <a:t>作る経験を、教える価値へ。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