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ertification-history-bg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ertification-history-bg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nerated certification history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panel"/>
          <p:cNvSpPr/>
          <p:nvPr/>
        </p:nvSpPr>
        <p:spPr>
          <a:xfrm>
            <a:off x="610000" y="560000"/>
            <a:ext cx="6600000" cy="18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ja-JP" sz="4200" b="1">
                <a:solidFill>
                  <a:srgbClr val="102235"/>
                </a:solidFill>
                <a:latin typeface="Yu Gothic"/>
                <a:ea typeface="Yu Gothic"/>
              </a:rPr>
              <a:t>資格取得ヒストリー</a:t>
            </a:r>
          </a:p>
        </p:txBody>
      </p:sp>
      <p:sp>
        <p:nvSpPr>
          <p:cNvPr id="4" name="subtitle"/>
          <p:cNvSpPr/>
          <p:nvPr/>
        </p:nvSpPr>
        <p:spPr>
          <a:xfrm>
            <a:off x="760000" y="1640000"/>
            <a:ext cx="61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ja-JP" sz="2200" b="1">
                <a:solidFill>
                  <a:srgbClr val="2B5D70"/>
                </a:solidFill>
                <a:latin typeface="Yu Gothic"/>
                <a:ea typeface="Yu Gothic"/>
              </a:rPr>
              <a:t>太地 稔 | 1978 - 2022</a:t>
            </a:r>
          </a:p>
        </p:txBody>
      </p:sp>
      <p:sp>
        <p:nvSpPr>
          <p:cNvPr id="5" name="summary"/>
          <p:cNvSpPr/>
          <p:nvPr/>
        </p:nvSpPr>
        <p:spPr>
          <a:xfrm>
            <a:off x="760000" y="2520000"/>
            <a:ext cx="5300000" cy="1050000"/>
          </a:xfrm>
          <a:prstGeom prst="roundRect">
            <a:avLst/>
          </a:prstGeom>
          <a:solidFill>
            <a:srgbClr val="0F2235"/>
          </a:solidFill>
          <a:ln w="12700">
            <a:solidFill>
              <a:srgbClr val="39A5A9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ja-JP" sz="1700">
                <a:solidFill>
                  <a:srgbClr val="FFFFFF"/>
                </a:solidFill>
                <a:latin typeface="Yu Gothic"/>
                <a:ea typeface="Yu Gothic"/>
              </a:rPr>
              <a:t>情報処理から教育・Office・認定インストラクターへ、実務と指導をつなぐ資格の軌跡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0000" y="280000"/>
            <a:ext cx="9500000" cy="520000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ja-JP" sz="3200" b="1">
                <a:solidFill>
                  <a:srgbClr val="102235"/>
                </a:solidFill>
                <a:latin typeface="Yu Gothic"/>
                <a:ea typeface="Yu Gothic"/>
              </a:rPr>
              <a:t>基礎技術を固めた時期</a:t>
            </a:r>
          </a:p>
        </p:txBody>
      </p:sp>
      <p:sp>
        <p:nvSpPr>
          <p:cNvPr id="3" name="line"/>
          <p:cNvSpPr/>
          <p:nvPr/>
        </p:nvSpPr>
        <p:spPr>
          <a:xfrm>
            <a:off x="860000" y="2500000"/>
            <a:ext cx="10400000" cy="65000"/>
          </a:xfrm>
          <a:prstGeom prst="roundRect">
            <a:avLst/>
          </a:prstGeom>
          <a:solidFill>
            <a:srgbClr val="39A5A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100">
                <a:solidFill>
                  <a:srgbClr val="FFFFFF"/>
                </a:solidFill>
                <a:latin typeface="Yu Gothic"/>
                <a:ea typeface="Yu Gothic"/>
              </a:rPr>
              <a:t/>
            </a:r>
          </a:p>
        </p:txBody>
      </p:sp>
      <p:sp>
        <p:nvSpPr>
          <p:cNvPr id="4" name="year"/>
          <p:cNvSpPr/>
          <p:nvPr/>
        </p:nvSpPr>
        <p:spPr>
          <a:xfrm>
            <a:off x="850000" y="1350000"/>
            <a:ext cx="1850000" cy="520000"/>
          </a:xfrm>
          <a:prstGeom prst="roundRect">
            <a:avLst/>
          </a:prstGeom>
          <a:solidFill>
            <a:srgbClr val="102235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2000" b="1">
                <a:solidFill>
                  <a:srgbClr val="FFFFFF"/>
                </a:solidFill>
                <a:latin typeface="Yu Gothic"/>
                <a:ea typeface="Yu Gothic"/>
              </a:rPr>
              <a:t>1978.02</a:t>
            </a:r>
          </a:p>
        </p:txBody>
      </p:sp>
      <p:sp>
        <p:nvSpPr>
          <p:cNvPr id="5" name="event"/>
          <p:cNvSpPr/>
          <p:nvPr/>
        </p:nvSpPr>
        <p:spPr>
          <a:xfrm>
            <a:off x="850000" y="1960000"/>
            <a:ext cx="250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1450">
                <a:solidFill>
                  <a:srgbClr val="102235"/>
                </a:solidFill>
                <a:latin typeface="Yu Gothic"/>
                <a:ea typeface="Yu Gothic"/>
              </a:rPr>
              <a:t>第二種情報処理技術者</a:t>
            </a:r>
          </a:p>
          <a:p>
            <a:pPr algn="ctr"/>
            <a:r>
              <a:rPr lang="ja-JP" sz="1450">
                <a:solidFill>
                  <a:srgbClr val="102235"/>
                </a:solidFill>
                <a:latin typeface="Yu Gothic"/>
                <a:ea typeface="Yu Gothic"/>
              </a:rPr>
              <a:t>(現: 基本情報処理技術者)</a:t>
            </a:r>
          </a:p>
        </p:txBody>
      </p:sp>
      <p:sp>
        <p:nvSpPr>
          <p:cNvPr id="6" name="year"/>
          <p:cNvSpPr/>
          <p:nvPr/>
        </p:nvSpPr>
        <p:spPr>
          <a:xfrm>
            <a:off x="3650000" y="3150000"/>
            <a:ext cx="1850000" cy="520000"/>
          </a:xfrm>
          <a:prstGeom prst="roundRect">
            <a:avLst/>
          </a:prstGeom>
          <a:solidFill>
            <a:srgbClr val="102235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2000" b="1">
                <a:solidFill>
                  <a:srgbClr val="FFFFFF"/>
                </a:solidFill>
                <a:latin typeface="Yu Gothic"/>
                <a:ea typeface="Yu Gothic"/>
              </a:rPr>
              <a:t>1995.12</a:t>
            </a:r>
          </a:p>
        </p:txBody>
      </p:sp>
      <p:sp>
        <p:nvSpPr>
          <p:cNvPr id="7" name="event"/>
          <p:cNvSpPr/>
          <p:nvPr/>
        </p:nvSpPr>
        <p:spPr>
          <a:xfrm>
            <a:off x="3650000" y="3760000"/>
            <a:ext cx="250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1450">
                <a:solidFill>
                  <a:srgbClr val="102235"/>
                </a:solidFill>
                <a:latin typeface="Yu Gothic"/>
                <a:ea typeface="Yu Gothic"/>
              </a:rPr>
              <a:t>初級システムアドミニストレータ</a:t>
            </a:r>
          </a:p>
          <a:p>
            <a:pPr algn="ctr"/>
            <a:r>
              <a:rPr lang="ja-JP" sz="1450">
                <a:solidFill>
                  <a:srgbClr val="102235"/>
                </a:solidFill>
                <a:latin typeface="Yu Gothic"/>
                <a:ea typeface="Yu Gothic"/>
              </a:rPr>
              <a:t>(現: ITパスポート)</a:t>
            </a:r>
          </a:p>
        </p:txBody>
      </p:sp>
      <p:sp>
        <p:nvSpPr>
          <p:cNvPr id="8" name="year"/>
          <p:cNvSpPr/>
          <p:nvPr/>
        </p:nvSpPr>
        <p:spPr>
          <a:xfrm>
            <a:off x="6750000" y="1350000"/>
            <a:ext cx="1850000" cy="520000"/>
          </a:xfrm>
          <a:prstGeom prst="roundRect">
            <a:avLst/>
          </a:prstGeom>
          <a:solidFill>
            <a:srgbClr val="102235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2000" b="1">
                <a:solidFill>
                  <a:srgbClr val="FFFFFF"/>
                </a:solidFill>
                <a:latin typeface="Yu Gothic"/>
                <a:ea typeface="Yu Gothic"/>
              </a:rPr>
              <a:t>1997.07</a:t>
            </a:r>
          </a:p>
        </p:txBody>
      </p:sp>
      <p:sp>
        <p:nvSpPr>
          <p:cNvPr id="9" name="event"/>
          <p:cNvSpPr/>
          <p:nvPr/>
        </p:nvSpPr>
        <p:spPr>
          <a:xfrm>
            <a:off x="6750000" y="1960000"/>
            <a:ext cx="250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1450">
                <a:solidFill>
                  <a:srgbClr val="102235"/>
                </a:solidFill>
                <a:latin typeface="Yu Gothic"/>
                <a:ea typeface="Yu Gothic"/>
              </a:rPr>
              <a:t>データベーススペシャリスト</a:t>
            </a:r>
          </a:p>
        </p:txBody>
      </p:sp>
      <p:sp>
        <p:nvSpPr>
          <p:cNvPr id="10" name="note"/>
          <p:cNvSpPr/>
          <p:nvPr/>
        </p:nvSpPr>
        <p:spPr>
          <a:xfrm>
            <a:off x="560000" y="5800000"/>
            <a:ext cx="9800000" cy="500000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ja-JP" sz="1500">
                <a:solidFill>
                  <a:srgbClr val="486575"/>
                </a:solidFill>
                <a:latin typeface="Yu Gothic"/>
                <a:ea typeface="Yu Gothic"/>
              </a:rPr>
              <a:t>ITキャリア初期から中堅期にかけて、業務システム開発の土台となる国家資格・専門資格を取得。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0000" y="280000"/>
            <a:ext cx="9800000" cy="520000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ja-JP" sz="3200" b="1">
                <a:solidFill>
                  <a:srgbClr val="102235"/>
                </a:solidFill>
                <a:latin typeface="Yu Gothic"/>
                <a:ea typeface="Yu Gothic"/>
              </a:rPr>
              <a:t>教育・指導領域への展開</a:t>
            </a:r>
          </a:p>
        </p:txBody>
      </p:sp>
      <p:sp>
        <p:nvSpPr>
          <p:cNvPr id="3" name="phase1"/>
          <p:cNvSpPr/>
          <p:nvPr/>
        </p:nvSpPr>
        <p:spPr>
          <a:xfrm>
            <a:off x="640000" y="1220000"/>
            <a:ext cx="2500000" cy="375000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5E3E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1900" b="1">
                <a:solidFill>
                  <a:srgbClr val="102235"/>
                </a:solidFill>
                <a:latin typeface="Yu Gothic"/>
                <a:ea typeface="Yu Gothic"/>
              </a:rPr>
              <a:t>Office活用</a:t>
            </a:r>
          </a:p>
        </p:txBody>
      </p:sp>
      <p:sp>
        <p:nvSpPr>
          <p:cNvPr id="4" name="phase2"/>
          <p:cNvSpPr/>
          <p:nvPr/>
        </p:nvSpPr>
        <p:spPr>
          <a:xfrm>
            <a:off x="3560000" y="1220000"/>
            <a:ext cx="2500000" cy="3750000"/>
          </a:xfrm>
          <a:prstGeom prst="roundRect">
            <a:avLst/>
          </a:prstGeom>
          <a:solidFill>
            <a:srgbClr val="F8F5EC"/>
          </a:solidFill>
          <a:ln w="12700">
            <a:solidFill>
              <a:srgbClr val="E2D7B8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1900" b="1">
                <a:solidFill>
                  <a:srgbClr val="102235"/>
                </a:solidFill>
                <a:latin typeface="Yu Gothic"/>
                <a:ea typeface="Yu Gothic"/>
              </a:rPr>
              <a:t>ICT支援</a:t>
            </a:r>
          </a:p>
        </p:txBody>
      </p:sp>
      <p:sp>
        <p:nvSpPr>
          <p:cNvPr id="5" name="phase3"/>
          <p:cNvSpPr/>
          <p:nvPr/>
        </p:nvSpPr>
        <p:spPr>
          <a:xfrm>
            <a:off x="6480000" y="1220000"/>
            <a:ext cx="2500000" cy="3750000"/>
          </a:xfrm>
          <a:prstGeom prst="roundRect">
            <a:avLst/>
          </a:prstGeom>
          <a:solidFill>
            <a:srgbClr val="F1F7F4"/>
          </a:solidFill>
          <a:ln w="12700">
            <a:solidFill>
              <a:srgbClr val="C9DDD2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1900" b="1">
                <a:solidFill>
                  <a:srgbClr val="102235"/>
                </a:solidFill>
                <a:latin typeface="Yu Gothic"/>
                <a:ea typeface="Yu Gothic"/>
              </a:rPr>
              <a:t>プログラミング教育</a:t>
            </a:r>
          </a:p>
        </p:txBody>
      </p:sp>
      <p:sp>
        <p:nvSpPr>
          <p:cNvPr id="6" name="phase4"/>
          <p:cNvSpPr/>
          <p:nvPr/>
        </p:nvSpPr>
        <p:spPr>
          <a:xfrm>
            <a:off x="9400000" y="1220000"/>
            <a:ext cx="1900000" cy="3750000"/>
          </a:xfrm>
          <a:prstGeom prst="roundRect">
            <a:avLst/>
          </a:prstGeom>
          <a:solidFill>
            <a:srgbClr val="F5F2F8"/>
          </a:solidFill>
          <a:ln w="12700">
            <a:solidFill>
              <a:srgbClr val="DAD0E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1900" b="1">
                <a:solidFill>
                  <a:srgbClr val="102235"/>
                </a:solidFill>
                <a:latin typeface="Yu Gothic"/>
                <a:ea typeface="Yu Gothic"/>
              </a:rPr>
              <a:t>認定講師</a:t>
            </a:r>
          </a:p>
        </p:txBody>
      </p:sp>
      <p:sp>
        <p:nvSpPr>
          <p:cNvPr id="7" name="p1"/>
          <p:cNvSpPr/>
          <p:nvPr/>
        </p:nvSpPr>
        <p:spPr>
          <a:xfrm>
            <a:off x="900000" y="2000000"/>
            <a:ext cx="2000000" cy="2100000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ja-JP" sz="1350">
                <a:solidFill>
                  <a:srgbClr val="243746"/>
                </a:solidFill>
                <a:latin typeface="Yu Gothic"/>
                <a:ea typeface="Yu Gothic"/>
              </a:rPr>
              <a:t>2016 MOS 2013 Master</a:t>
            </a:r>
          </a:p>
          <a:p>
            <a:pPr algn="l"/>
            <a:r>
              <a:rPr lang="ja-JP" sz="1350">
                <a:solidFill>
                  <a:srgbClr val="243746"/>
                </a:solidFill>
                <a:latin typeface="Yu Gothic"/>
                <a:ea typeface="Yu Gothic"/>
              </a:rPr>
              <a:t>2019 Excel 1級</a:t>
            </a:r>
          </a:p>
          <a:p>
            <a:pPr algn="l"/>
            <a:r>
              <a:rPr lang="ja-JP" sz="1350">
                <a:solidFill>
                  <a:srgbClr val="243746"/>
                </a:solidFill>
                <a:latin typeface="Yu Gothic"/>
                <a:ea typeface="Yu Gothic"/>
              </a:rPr>
              <a:t>2020 Access 1級</a:t>
            </a:r>
          </a:p>
          <a:p>
            <a:pPr algn="l"/>
            <a:r>
              <a:rPr lang="ja-JP" sz="1350">
                <a:solidFill>
                  <a:srgbClr val="243746"/>
                </a:solidFill>
                <a:latin typeface="Yu Gothic"/>
                <a:ea typeface="Yu Gothic"/>
              </a:rPr>
              <a:t>2022 PowerPoint上級</a:t>
            </a:r>
          </a:p>
          <a:p>
            <a:pPr algn="l"/>
            <a:r>
              <a:rPr lang="ja-JP" sz="1350">
                <a:solidFill>
                  <a:srgbClr val="243746"/>
                </a:solidFill>
                <a:latin typeface="Yu Gothic"/>
                <a:ea typeface="Yu Gothic"/>
              </a:rPr>
              <a:t>2022 Excelビジネススキル</a:t>
            </a:r>
          </a:p>
        </p:txBody>
      </p:sp>
      <p:sp>
        <p:nvSpPr>
          <p:cNvPr id="8" name="p2"/>
          <p:cNvSpPr/>
          <p:nvPr/>
        </p:nvSpPr>
        <p:spPr>
          <a:xfrm>
            <a:off x="3820000" y="2000000"/>
            <a:ext cx="2000000" cy="1550000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ja-JP" sz="1450">
                <a:solidFill>
                  <a:srgbClr val="243746"/>
                </a:solidFill>
                <a:latin typeface="Yu Gothic"/>
                <a:ea typeface="Yu Gothic"/>
              </a:rPr>
              <a:t>2017 ICT支援員能力認定</a:t>
            </a:r>
          </a:p>
          <a:p>
            <a:pPr algn="l"/>
            <a:r>
              <a:rPr lang="ja-JP" sz="1450">
                <a:solidFill>
                  <a:srgbClr val="243746"/>
                </a:solidFill>
                <a:latin typeface="Yu Gothic"/>
                <a:ea typeface="Yu Gothic"/>
              </a:rPr>
              <a:t>2020 P検3級</a:t>
            </a:r>
          </a:p>
        </p:txBody>
      </p:sp>
      <p:sp>
        <p:nvSpPr>
          <p:cNvPr id="9" name="p3"/>
          <p:cNvSpPr/>
          <p:nvPr/>
        </p:nvSpPr>
        <p:spPr>
          <a:xfrm>
            <a:off x="6740000" y="2000000"/>
            <a:ext cx="2000000" cy="1550000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ja-JP" sz="1450">
                <a:solidFill>
                  <a:srgbClr val="243746"/>
                </a:solidFill>
                <a:latin typeface="Yu Gothic"/>
                <a:ea typeface="Yu Gothic"/>
              </a:rPr>
              <a:t>2018 Scratch Gold</a:t>
            </a:r>
          </a:p>
          <a:p>
            <a:pPr algn="l"/>
            <a:r>
              <a:rPr lang="ja-JP" sz="1450">
                <a:solidFill>
                  <a:srgbClr val="243746"/>
                </a:solidFill>
                <a:latin typeface="Yu Gothic"/>
                <a:ea typeface="Yu Gothic"/>
              </a:rPr>
              <a:t>2019 Scratch Silver</a:t>
            </a:r>
          </a:p>
        </p:txBody>
      </p:sp>
      <p:sp>
        <p:nvSpPr>
          <p:cNvPr id="10" name="p4"/>
          <p:cNvSpPr/>
          <p:nvPr/>
        </p:nvSpPr>
        <p:spPr>
          <a:xfrm>
            <a:off x="9620000" y="2000000"/>
            <a:ext cx="1500000" cy="1550000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ja-JP" sz="1450">
                <a:solidFill>
                  <a:srgbClr val="243746"/>
                </a:solidFill>
                <a:latin typeface="Yu Gothic"/>
                <a:ea typeface="Yu Gothic"/>
              </a:rPr>
              <a:t>2022 サーティファイ</a:t>
            </a:r>
          </a:p>
          <a:p>
            <a:pPr algn="l"/>
            <a:r>
              <a:rPr lang="ja-JP" sz="1450">
                <a:solidFill>
                  <a:srgbClr val="243746"/>
                </a:solidFill>
                <a:latin typeface="Yu Gothic"/>
                <a:ea typeface="Yu Gothic"/>
              </a:rPr>
              <a:t>認定インストラクター</a:t>
            </a:r>
          </a:p>
        </p:txBody>
      </p:sp>
      <p:sp>
        <p:nvSpPr>
          <p:cNvPr id="11" name="message"/>
          <p:cNvSpPr/>
          <p:nvPr/>
        </p:nvSpPr>
        <p:spPr>
          <a:xfrm>
            <a:off x="1150000" y="5550000"/>
            <a:ext cx="9800000" cy="700000"/>
          </a:xfrm>
          <a:prstGeom prst="roundRect">
            <a:avLst/>
          </a:prstGeom>
          <a:solidFill>
            <a:srgbClr val="102235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1550">
                <a:solidFill>
                  <a:srgbClr val="FFFFFF"/>
                </a:solidFill>
                <a:latin typeface="Yu Gothic"/>
                <a:ea typeface="Yu Gothic"/>
              </a:rPr>
              <a:t>セカンドキャリアでは、使える力を教える力へ転換。資格の幅がそのまま指導対象の広がりを示している。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0000" y="280000"/>
            <a:ext cx="9800000" cy="520000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ja-JP" sz="3200" b="1">
                <a:solidFill>
                  <a:srgbClr val="102235"/>
                </a:solidFill>
                <a:latin typeface="Yu Gothic"/>
                <a:ea typeface="Yu Gothic"/>
              </a:rPr>
              <a:t>スキル領域マップ</a:t>
            </a:r>
          </a:p>
        </p:txBody>
      </p:sp>
      <p:sp>
        <p:nvSpPr>
          <p:cNvPr id="3" name="center"/>
          <p:cNvSpPr/>
          <p:nvPr/>
        </p:nvSpPr>
        <p:spPr>
          <a:xfrm>
            <a:off x="4660000" y="2500000"/>
            <a:ext cx="2900000" cy="100000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39A5A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2400" b="1">
                <a:solidFill>
                  <a:srgbClr val="FFFFFF"/>
                </a:solidFill>
                <a:latin typeface="Yu Gothic"/>
                <a:ea typeface="Yu Gothic"/>
              </a:rPr>
              <a:t>実務 × 教育</a:t>
            </a:r>
          </a:p>
        </p:txBody>
      </p:sp>
      <p:sp>
        <p:nvSpPr>
          <p:cNvPr id="4" name="a"/>
          <p:cNvSpPr/>
          <p:nvPr/>
        </p:nvSpPr>
        <p:spPr>
          <a:xfrm>
            <a:off x="900000" y="1250000"/>
            <a:ext cx="3100000" cy="1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A5A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1500">
                <a:solidFill>
                  <a:srgbClr val="102235"/>
                </a:solidFill>
                <a:latin typeface="Yu Gothic"/>
                <a:ea typeface="Yu Gothic"/>
              </a:rPr>
              <a:t>IT基礎・業務理解</a:t>
            </a:r>
          </a:p>
          <a:p>
            <a:pPr algn="ctr"/>
            <a:r>
              <a:rPr lang="ja-JP" sz="1500">
                <a:solidFill>
                  <a:srgbClr val="102235"/>
                </a:solidFill>
                <a:latin typeface="Yu Gothic"/>
                <a:ea typeface="Yu Gothic"/>
              </a:rPr>
              <a:t>第二種情報処理 / シスアド / P検</a:t>
            </a:r>
          </a:p>
        </p:txBody>
      </p:sp>
      <p:sp>
        <p:nvSpPr>
          <p:cNvPr id="5" name="b"/>
          <p:cNvSpPr/>
          <p:nvPr/>
        </p:nvSpPr>
        <p:spPr>
          <a:xfrm>
            <a:off x="8000000" y="1250000"/>
            <a:ext cx="3100000" cy="1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A5A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1500">
                <a:solidFill>
                  <a:srgbClr val="102235"/>
                </a:solidFill>
                <a:latin typeface="Yu Gothic"/>
                <a:ea typeface="Yu Gothic"/>
              </a:rPr>
              <a:t>専門技術</a:t>
            </a:r>
          </a:p>
          <a:p>
            <a:pPr algn="ctr"/>
            <a:r>
              <a:rPr lang="ja-JP" sz="1500">
                <a:solidFill>
                  <a:srgbClr val="102235"/>
                </a:solidFill>
                <a:latin typeface="Yu Gothic"/>
                <a:ea typeface="Yu Gothic"/>
              </a:rPr>
              <a:t>データベーススペシャリスト</a:t>
            </a:r>
          </a:p>
        </p:txBody>
      </p:sp>
      <p:sp>
        <p:nvSpPr>
          <p:cNvPr id="6" name="c"/>
          <p:cNvSpPr/>
          <p:nvPr/>
        </p:nvSpPr>
        <p:spPr>
          <a:xfrm>
            <a:off x="900000" y="4550000"/>
            <a:ext cx="3100000" cy="1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9A2C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1500">
                <a:solidFill>
                  <a:srgbClr val="102235"/>
                </a:solidFill>
                <a:latin typeface="Yu Gothic"/>
                <a:ea typeface="Yu Gothic"/>
              </a:rPr>
              <a:t>Office実務</a:t>
            </a:r>
          </a:p>
          <a:p>
            <a:pPr algn="ctr"/>
            <a:r>
              <a:rPr lang="ja-JP" sz="1500">
                <a:solidFill>
                  <a:srgbClr val="102235"/>
                </a:solidFill>
                <a:latin typeface="Yu Gothic"/>
                <a:ea typeface="Yu Gothic"/>
              </a:rPr>
              <a:t>MOS / Excel / Access / PowerPoint</a:t>
            </a:r>
          </a:p>
        </p:txBody>
      </p:sp>
      <p:sp>
        <p:nvSpPr>
          <p:cNvPr id="7" name="d"/>
          <p:cNvSpPr/>
          <p:nvPr/>
        </p:nvSpPr>
        <p:spPr>
          <a:xfrm>
            <a:off x="8000000" y="4550000"/>
            <a:ext cx="3100000" cy="1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9A2C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1500">
                <a:solidFill>
                  <a:srgbClr val="102235"/>
                </a:solidFill>
                <a:latin typeface="Yu Gothic"/>
                <a:ea typeface="Yu Gothic"/>
              </a:rPr>
              <a:t>指導・教育</a:t>
            </a:r>
          </a:p>
          <a:p>
            <a:pPr algn="ctr"/>
            <a:r>
              <a:rPr lang="ja-JP" sz="1500">
                <a:solidFill>
                  <a:srgbClr val="102235"/>
                </a:solidFill>
                <a:latin typeface="Yu Gothic"/>
                <a:ea typeface="Yu Gothic"/>
              </a:rPr>
              <a:t>ICT支援員 / Scratch / 認定インストラクター</a:t>
            </a:r>
          </a:p>
        </p:txBody>
      </p:sp>
      <p:sp>
        <p:nvSpPr>
          <p:cNvPr id="8" name="note"/>
          <p:cNvSpPr/>
          <p:nvPr/>
        </p:nvSpPr>
        <p:spPr>
          <a:xfrm>
            <a:off x="4300000" y="3850000"/>
            <a:ext cx="3700000" cy="650000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1450">
                <a:solidFill>
                  <a:srgbClr val="486575"/>
                </a:solidFill>
                <a:latin typeface="Yu Gothic"/>
                <a:ea typeface="Yu Gothic"/>
              </a:rPr>
              <a:t>資格群は、40年のIT実務経験とセカンドキャリアの教育実践を接続する証跡。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nerated certification history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anel"/>
          <p:cNvSpPr/>
          <p:nvPr/>
        </p:nvSpPr>
        <p:spPr>
          <a:xfrm>
            <a:off x="650000" y="620000"/>
            <a:ext cx="5800000" cy="52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ja-JP" sz="3300" b="1">
                <a:solidFill>
                  <a:srgbClr val="102235"/>
                </a:solidFill>
                <a:latin typeface="Yu Gothic"/>
                <a:ea typeface="Yu Gothic"/>
              </a:rPr>
              <a:t>資格取得のストーリー</a:t>
            </a:r>
          </a:p>
        </p:txBody>
      </p:sp>
      <p:sp>
        <p:nvSpPr>
          <p:cNvPr id="4" name="story"/>
          <p:cNvSpPr/>
          <p:nvPr/>
        </p:nvSpPr>
        <p:spPr>
          <a:xfrm>
            <a:off x="900000" y="1600000"/>
            <a:ext cx="5100000" cy="2900000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ja-JP" sz="1650">
                <a:solidFill>
                  <a:srgbClr val="243746"/>
                </a:solidFill>
                <a:latin typeface="Yu Gothic"/>
                <a:ea typeface="Yu Gothic"/>
              </a:rPr>
              <a:t>1. IT基礎を国家資格で体系化</a:t>
            </a:r>
          </a:p>
          <a:p>
            <a:pPr algn="l"/>
            <a:r>
              <a:rPr lang="ja-JP" sz="1650">
                <a:solidFill>
                  <a:srgbClr val="243746"/>
                </a:solidFill>
                <a:latin typeface="Yu Gothic"/>
                <a:ea typeface="Yu Gothic"/>
              </a:rPr>
              <a:t>2. DBなど専門技術で開発マネジメントを補強</a:t>
            </a:r>
          </a:p>
          <a:p>
            <a:pPr algn="l"/>
            <a:r>
              <a:rPr lang="ja-JP" sz="1650">
                <a:solidFill>
                  <a:srgbClr val="243746"/>
                </a:solidFill>
                <a:latin typeface="Yu Gothic"/>
                <a:ea typeface="Yu Gothic"/>
              </a:rPr>
              <a:t>3. MOS・サーティファイでOffice実務力を可視化</a:t>
            </a:r>
          </a:p>
          <a:p>
            <a:pPr algn="l"/>
            <a:r>
              <a:rPr lang="ja-JP" sz="1650">
                <a:solidFill>
                  <a:srgbClr val="243746"/>
                </a:solidFill>
                <a:latin typeface="Yu Gothic"/>
                <a:ea typeface="Yu Gothic"/>
              </a:rPr>
              <a:t>4. ICT支援・Scratch・認定講師で教育領域へ展開</a:t>
            </a:r>
          </a:p>
        </p:txBody>
      </p:sp>
      <p:sp>
        <p:nvSpPr>
          <p:cNvPr id="5" name="closing"/>
          <p:cNvSpPr/>
          <p:nvPr/>
        </p:nvSpPr>
        <p:spPr>
          <a:xfrm>
            <a:off x="900000" y="4880000"/>
            <a:ext cx="5000000" cy="65000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39A5A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ja-JP" sz="2000" b="1">
                <a:solidFill>
                  <a:srgbClr val="FFFFFF"/>
                </a:solidFill>
                <a:latin typeface="Yu Gothic"/>
                <a:ea typeface="Yu Gothic"/>
              </a:rPr>
              <a:t>「作る」経験を、「教える」価値へ。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rtification History">
  <a:themeElements>
    <a:clrScheme name="Custom">
      <a:dk1>
        <a:srgbClr val="102235"/>
      </a:dk1>
      <a:lt1>
        <a:srgbClr val="FFFFFF"/>
      </a:lt1>
      <a:dk2>
        <a:srgbClr val="243746"/>
      </a:dk2>
      <a:lt2>
        <a:srgbClr val="F4F8FA"/>
      </a:lt2>
      <a:accent1>
        <a:srgbClr val="39A5A9"/>
      </a:accent1>
      <a:accent2>
        <a:srgbClr val="C49A2C"/>
      </a:accent2>
      <a:accent3>
        <a:srgbClr val="486575"/>
      </a:accent3>
      <a:accent4>
        <a:srgbClr val="D9E3EA"/>
      </a:accent4>
      <a:accent5>
        <a:srgbClr val="F1F7F4"/>
      </a:accent5>
      <a:accent6>
        <a:srgbClr val="F5F2F8"/>
      </a:accent6>
      <a:hlink>
        <a:srgbClr val="2B5D70"/>
      </a:hlink>
      <a:folHlink>
        <a:srgbClr val="5A4D72"/>
      </a:folHlink>
    </a:clrScheme>
    <a:fontScheme name="Yu Gothic">
      <a:majorFont>
        <a:latin typeface="Yu Gothic"/>
        <a:ea typeface="Yu Gothic"/>
      </a:majorFont>
      <a:minorFont>
        <a:latin typeface="Yu Gothic"/>
        <a:ea typeface="Yu Gothi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資格取得ヒストリー_太地稔</dc:title>
  <dc:creator>Codex</dc:creator>
  <cp:lastModifiedBy>Codex</cp:lastModifiedBy>
  <dcterms:created xsi:type="dcterms:W3CDTF">2026-05-07T14:35:10Z</dcterms:created>
  <dcterms:modified xsi:type="dcterms:W3CDTF">2026-05-07T14:35:10Z</dcterms:modified>
</cp:coreProperties>
</file>